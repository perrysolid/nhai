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jpg"/><Relationship Id="rId12" Type="http://schemas.openxmlformats.org/officeDocument/2006/relationships/image" Target="../media/image12.jpg"/><Relationship Id="rId13" Type="http://schemas.openxmlformats.org/officeDocument/2006/relationships/image" Target="../media/image1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F5D9F"/>
                </a:solidFill>
                <a:latin typeface="Calibri"/>
              </a:rPr>
              <a:t>FINE-TUNING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B2130"/>
                </a:solidFill>
                <a:latin typeface="Georgia"/>
              </a:rPr>
              <a:t>EdgeFace-S + ArcFace, end to end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778240" cy="40474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18320" y="137160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F5D9F"/>
                </a:solidFill>
                <a:latin typeface="Calibri"/>
              </a:rPr>
              <a:t>BACKBONE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162763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Calibri"/>
              </a:rPr>
              <a:t>EdgeFace-S (edgeface_s_gamma_05)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Calibri"/>
              </a:rPr>
              <a:t>3.65M params · 512-d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221284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F5D9F"/>
                </a:solidFill>
                <a:latin typeface="Calibri"/>
              </a:rPr>
              <a:t>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246888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Calibri"/>
              </a:rPr>
              <a:t>ArcFace angular margin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Calibri"/>
              </a:rPr>
              <a:t>s=32, m=0.5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05409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F5D9F"/>
                </a:solidFill>
                <a:latin typeface="Calibri"/>
              </a:rPr>
              <a:t>SCHEDULE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3310128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Calibri"/>
              </a:rPr>
              <a:t>5 ep. head-only warmup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Calibri"/>
              </a:rPr>
              <a:t>→ 25 ep. full fine-tune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3895344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F5D9F"/>
                </a:solidFill>
                <a:latin typeface="Calibri"/>
              </a:rPr>
              <a:t>OPTIMISER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4151376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Calibri"/>
              </a:rPr>
              <a:t>AdamW · backbone lr 1e-4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Calibri"/>
              </a:rPr>
              <a:t>head lr 1e-3 · cosine decay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473659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F5D9F"/>
                </a:solidFill>
                <a:latin typeface="Calibri"/>
              </a:rPr>
              <a:t>INPUT /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4992624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Calibri"/>
              </a:rPr>
              <a:t>112×112×3 float32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Calibri"/>
              </a:rPr>
              <a:t>mean/std 0.5 → 512-d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557784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F5D9F"/>
                </a:solidFill>
                <a:latin typeface="Calibri"/>
              </a:rPr>
              <a:t>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5833872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Calibri"/>
              </a:rPr>
              <a:t>ONNX opset13 → TFLite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B6472"/>
                </a:solidFill>
                <a:latin typeface="Calibri"/>
              </a:rPr>
              <a:t>fp16 verified, fp32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3A3"/>
                </a:solidFill>
                <a:latin typeface="Calibri"/>
              </a:rPr>
              <a:t>Same 112×112×3 in / 512-d out / mean-std-0.5 contract as the app's config.ts — drop-in, no app changes.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F5D9F"/>
                </a:solidFill>
                <a:latin typeface="Calibri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B2130"/>
                </a:solidFill>
                <a:latin typeface="Georgia"/>
              </a:rPr>
              <a:t>9,708 identities of Indian faces, real photos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5B6472"/>
                </a:solidFill>
                <a:latin typeface="Calibri"/>
              </a:rPr>
              <a:t>Wikidata/Wikimedia Commons extraction of named Indian public figures — person, state, gender, portrait photo.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E7EEF8"/>
          </a:solidFill>
          <a:ln w="9525">
            <a:solidFill>
              <a:srgbClr val="2F5D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9397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F5D9F"/>
                </a:solidFill>
                <a:latin typeface="Consolas"/>
              </a:rPr>
              <a:t>27,364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2432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130"/>
                </a:solidFill>
                <a:latin typeface="Calibri"/>
              </a:rPr>
              <a:t>source CSV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96596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E7EEF8"/>
          </a:solidFill>
          <a:ln w="9525">
            <a:solidFill>
              <a:srgbClr val="2F5D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09397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F5D9F"/>
                </a:solidFill>
                <a:latin typeface="Consolas"/>
              </a:rPr>
              <a:t>9,708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62432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130"/>
                </a:solidFill>
                <a:latin typeface="Calibri"/>
              </a:rPr>
              <a:t>training identities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96596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E7EEF8"/>
          </a:solidFill>
          <a:ln w="9525">
            <a:solidFill>
              <a:srgbClr val="2F5D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9397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F5D9F"/>
                </a:solidFill>
                <a:latin typeface="Consolas"/>
              </a:rPr>
              <a:t>9,900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2432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130"/>
                </a:solidFill>
                <a:latin typeface="Calibri"/>
              </a:rPr>
              <a:t>training images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965960"/>
            <a:ext cx="2651760" cy="1051560"/>
          </a:xfrm>
          <a:prstGeom prst="roundRect">
            <a:avLst>
              <a:gd name="adj" fmla="val 6000"/>
            </a:avLst>
          </a:prstGeom>
          <a:solidFill>
            <a:srgbClr val="E7EEF8"/>
          </a:solidFill>
          <a:ln w="9525">
            <a:solidFill>
              <a:srgbClr val="2F5D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93976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F5D9F"/>
                </a:solidFill>
                <a:latin typeface="Consolas"/>
              </a:rPr>
              <a:t>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624328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130"/>
                </a:solidFill>
                <a:latin typeface="Calibri"/>
              </a:rPr>
              <a:t>states &amp; UTs covered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A93A3"/>
                </a:solidFill>
                <a:latin typeface="Calibri"/>
              </a:rPr>
              <a:t>SAMPLE FACES FROM THE DATASET</a:t>
            </a:r>
          </a:p>
        </p:txBody>
      </p:sp>
      <p:pic>
        <p:nvPicPr>
          <p:cNvPr id="19" name="Picture 18" descr="0_sapna_bhavnan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11880"/>
            <a:ext cx="1691640" cy="12344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48640" y="4855464"/>
            <a:ext cx="1691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B6472"/>
                </a:solidFill>
                <a:latin typeface="Calibri"/>
              </a:rPr>
              <a:t>Sapna Bhavnani</a:t>
            </a:r>
          </a:p>
        </p:txBody>
      </p:sp>
      <p:pic>
        <p:nvPicPr>
          <p:cNvPr id="21" name="Picture 20" descr="10_biswajit_roy_chowdhu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008" y="3611880"/>
            <a:ext cx="1691640" cy="12344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350008" y="4855464"/>
            <a:ext cx="1691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B6472"/>
                </a:solidFill>
                <a:latin typeface="Calibri"/>
              </a:rPr>
              <a:t>Biswajit Roy Chowdhury</a:t>
            </a:r>
          </a:p>
        </p:txBody>
      </p:sp>
      <p:pic>
        <p:nvPicPr>
          <p:cNvPr id="23" name="Picture 22" descr="11_sangram_sing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376" y="3611880"/>
            <a:ext cx="1691640" cy="12344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151376" y="4855464"/>
            <a:ext cx="1691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B6472"/>
                </a:solidFill>
                <a:latin typeface="Calibri"/>
              </a:rPr>
              <a:t>Sangram Singh</a:t>
            </a:r>
          </a:p>
        </p:txBody>
      </p:sp>
      <p:pic>
        <p:nvPicPr>
          <p:cNvPr id="25" name="Picture 24" descr="1_venu_thottempud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744" y="3611880"/>
            <a:ext cx="1691640" cy="12344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952744" y="4855464"/>
            <a:ext cx="1691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B6472"/>
                </a:solidFill>
                <a:latin typeface="Calibri"/>
              </a:rPr>
              <a:t>Venu Thottempudi</a:t>
            </a:r>
          </a:p>
        </p:txBody>
      </p:sp>
      <p:pic>
        <p:nvPicPr>
          <p:cNvPr id="27" name="Picture 26" descr="2_shaktisinh_gohil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4112" y="3611880"/>
            <a:ext cx="1691640" cy="1234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754112" y="4855464"/>
            <a:ext cx="1691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B6472"/>
                </a:solidFill>
                <a:latin typeface="Calibri"/>
              </a:rPr>
              <a:t>Shaktisinh Gohil</a:t>
            </a:r>
          </a:p>
        </p:txBody>
      </p:sp>
      <p:pic>
        <p:nvPicPr>
          <p:cNvPr id="29" name="Picture 28" descr="3_santosh_la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480" y="3611880"/>
            <a:ext cx="1691640" cy="12344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555480" y="4855464"/>
            <a:ext cx="1691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B6472"/>
                </a:solidFill>
                <a:latin typeface="Calibri"/>
              </a:rPr>
              <a:t>Santosh Lad</a:t>
            </a:r>
          </a:p>
        </p:txBody>
      </p:sp>
      <p:pic>
        <p:nvPicPr>
          <p:cNvPr id="31" name="Picture 30" descr="4_sulochana_latka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5138928"/>
            <a:ext cx="1691640" cy="12344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48640" y="6382512"/>
            <a:ext cx="1691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B6472"/>
                </a:solidFill>
                <a:latin typeface="Calibri"/>
              </a:rPr>
              <a:t>Sulochana Latkar</a:t>
            </a:r>
          </a:p>
        </p:txBody>
      </p:sp>
      <p:pic>
        <p:nvPicPr>
          <p:cNvPr id="33" name="Picture 32" descr="5_jambuvijaya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50008" y="5138928"/>
            <a:ext cx="1691640" cy="12344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350008" y="6382512"/>
            <a:ext cx="1691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B6472"/>
                </a:solidFill>
                <a:latin typeface="Calibri"/>
              </a:rPr>
              <a:t>Jambuvijaya</a:t>
            </a:r>
          </a:p>
        </p:txBody>
      </p:sp>
      <p:pic>
        <p:nvPicPr>
          <p:cNvPr id="35" name="Picture 34" descr="6_ishita_malaviya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1376" y="5138928"/>
            <a:ext cx="1691640" cy="12344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151376" y="6382512"/>
            <a:ext cx="1691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B6472"/>
                </a:solidFill>
                <a:latin typeface="Calibri"/>
              </a:rPr>
              <a:t>Ishita Malaviya</a:t>
            </a:r>
          </a:p>
        </p:txBody>
      </p:sp>
      <p:pic>
        <p:nvPicPr>
          <p:cNvPr id="37" name="Picture 36" descr="7_sunirmal_basu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2744" y="5138928"/>
            <a:ext cx="1691640" cy="12344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952744" y="6382512"/>
            <a:ext cx="1691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B6472"/>
                </a:solidFill>
                <a:latin typeface="Calibri"/>
              </a:rPr>
              <a:t>Sunirmal Basu</a:t>
            </a:r>
          </a:p>
        </p:txBody>
      </p:sp>
      <p:pic>
        <p:nvPicPr>
          <p:cNvPr id="39" name="Picture 38" descr="8_shirine_boukli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4112" y="5138928"/>
            <a:ext cx="1691640" cy="123444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754112" y="6382512"/>
            <a:ext cx="1691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B6472"/>
                </a:solidFill>
                <a:latin typeface="Calibri"/>
              </a:rPr>
              <a:t>Shirine Boukli</a:t>
            </a:r>
          </a:p>
        </p:txBody>
      </p:sp>
      <p:pic>
        <p:nvPicPr>
          <p:cNvPr id="41" name="Picture 40" descr="9_j_r_d_tata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55480" y="5138928"/>
            <a:ext cx="1691640" cy="123444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555480" y="6382512"/>
            <a:ext cx="1691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5B6472"/>
                </a:solidFill>
                <a:latin typeface="Calibri"/>
              </a:rPr>
              <a:t>J R D Tata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3A3"/>
                </a:solidFill>
                <a:latin typeface="Calibri"/>
              </a:rPr>
              <a:t>outputs/eval_report/ · data/build_identity_dataset.py · real held-out portrait photos, not synthetic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F5D9F"/>
                </a:solidFill>
                <a:latin typeface="Calibri"/>
              </a:rPr>
              <a:t>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1B2130"/>
                </a:solidFill>
                <a:latin typeface="Georgia"/>
              </a:rPr>
              <a:t>Verification accuracy, held-out identities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B6472"/>
                </a:solidFill>
                <a:latin typeface="Calibri"/>
              </a:rPr>
              <a:t>Same/different-person verification on identities never seen during training — real photo pairs, evaluated on the shipped TFLite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377440"/>
            <a:ext cx="50292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6974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93A3"/>
                </a:solidFill>
                <a:latin typeface="Calibri"/>
              </a:rPr>
              <a:t>VERIFICATION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063240"/>
            <a:ext cx="5029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0" b="1">
                <a:solidFill>
                  <a:srgbClr val="0CA30C"/>
                </a:solidFill>
                <a:latin typeface="Consolas"/>
              </a:rPr>
              <a:t>85.71%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47091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B6472"/>
                </a:solidFill>
                <a:latin typeface="Calibri"/>
              </a:rPr>
              <a:t>42 genuine + 42 impostor pairs · ROC-AUC 0.88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93A3"/>
                </a:solidFill>
                <a:latin typeface="Calibri"/>
              </a:rPr>
              <a:t>outputs/edgeface_s.tflite · float32, cosine parity 1.0 vs PyTorch · evaluate_tflite.py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