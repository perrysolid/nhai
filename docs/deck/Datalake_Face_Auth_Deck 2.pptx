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E0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01-604B-A676-0962B5E959A8}"/>
              </c:ext>
            </c:extLst>
          </c:dPt>
          <c:dPt>
            <c:idx val="1"/>
            <c:bubble3D val="0"/>
            <c:spPr>
              <a:solidFill>
                <a:srgbClr val="1E7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01-604B-A676-0962B5E959A8}"/>
              </c:ext>
            </c:extLst>
          </c:dPt>
          <c:dPt>
            <c:idx val="2"/>
            <c:bubble3D val="0"/>
            <c:spPr>
              <a:solidFill>
                <a:srgbClr val="2FA1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01-604B-A676-0962B5E959A8}"/>
              </c:ext>
            </c:extLst>
          </c:dPt>
          <c:dPt>
            <c:idx val="3"/>
            <c:bubble3D val="0"/>
            <c:spPr>
              <a:solidFill>
                <a:srgbClr val="49B9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01-604B-A676-0962B5E959A8}"/>
              </c:ext>
            </c:extLst>
          </c:dPt>
          <c:dPt>
            <c:idx val="4"/>
            <c:bubble3D val="0"/>
            <c:spPr>
              <a:solidFill>
                <a:srgbClr val="8FE9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B01-604B-A676-0962B5E959A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01-604B-A676-0962B5E959A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01-604B-A676-0962B5E959A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01-604B-A676-0962B5E959A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B01-604B-A676-0962B5E959A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B01-604B-A676-0962B5E959A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Recognition</c:v>
                </c:pt>
                <c:pt idx="1">
                  <c:v>Liveness</c:v>
                </c:pt>
                <c:pt idx="2">
                  <c:v>Alertness</c:v>
                </c:pt>
                <c:pt idx="3">
                  <c:v>Pose</c:v>
                </c:pt>
                <c:pt idx="4">
                  <c:v>Lighting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01-604B-A676-0962B5E95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97A5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90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38E0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54-2A42-BA16-56AB0E90BCD8}"/>
              </c:ext>
            </c:extLst>
          </c:dPt>
          <c:dPt>
            <c:idx val="1"/>
            <c:invertIfNegative val="0"/>
            <c:bubble3D val="0"/>
            <c:spPr>
              <a:solidFill>
                <a:srgbClr val="2532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54-2A42-BA16-56AB0E90BC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DBE4E8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Our models</c:v>
                </c:pt>
                <c:pt idx="1">
                  <c:v>20 MB budget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10.7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54-2A42-BA16-56AB0E90BC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7A5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709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79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rrysolid/NHAI/raw/main/docs/deliverables/DatalakeFaceAuth-android-universal-release.a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drive/folders/14rTxUjJ_Wrdt349yWkksgE51m87zO97d?usp=sharing" TargetMode="External"/><Relationship Id="rId4" Type="http://schemas.openxmlformats.org/officeDocument/2006/relationships/hyperlink" Target="https://nhai-three.vercel.ap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perrysolid/NHAI/raw/main/docs/deliverables/DatalakeFaceAuth-android-universal-release.apk" TargetMode="External"/><Relationship Id="rId7" Type="http://schemas.openxmlformats.org/officeDocument/2006/relationships/hyperlink" Target="https://datalake-face-sync.onrender.com/admi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nhai-three.vercel.app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drive.google.com/drive/folders/14rTxUjJ_Wrdt349yWkksgE51m87zO97d?usp=shar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rrysolid/NHAI/raw/main/docs/deliverables/DatalakeFaceAuth-android-universal-release.ap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4" name="Shape 2"/>
          <p:cNvSpPr/>
          <p:nvPr/>
        </p:nvSpPr>
        <p:spPr>
          <a:xfrm>
            <a:off x="11515039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5" name="Shape 3"/>
          <p:cNvSpPr/>
          <p:nvPr/>
        </p:nvSpPr>
        <p:spPr>
          <a:xfrm>
            <a:off x="11857939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8" name="Shape 6"/>
          <p:cNvSpPr/>
          <p:nvPr/>
        </p:nvSpPr>
        <p:spPr>
          <a:xfrm>
            <a:off x="11515039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9" name="Shape 7"/>
          <p:cNvSpPr/>
          <p:nvPr/>
        </p:nvSpPr>
        <p:spPr>
          <a:xfrm>
            <a:off x="11857939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965960"/>
            <a:ext cx="457200" cy="20116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240280"/>
            <a:ext cx="201168" cy="20116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4712" y="2240280"/>
            <a:ext cx="201168" cy="201168"/>
          </a:xfrm>
          <a:prstGeom prst="rect">
            <a:avLst/>
          </a:prstGeom>
          <a:solidFill>
            <a:srgbClr val="1E7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INNOVATION HACKATHON 7.0  ·  DATALAKE 3.0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 + liveness detection for field personnel in zero-network zones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281160" y="1417320"/>
            <a:ext cx="2057400" cy="4251960"/>
          </a:xfrm>
          <a:prstGeom prst="roundRect">
            <a:avLst>
              <a:gd name="adj" fmla="val 8000"/>
            </a:avLst>
          </a:prstGeom>
          <a:solidFill>
            <a:srgbClr val="0A0F13"/>
          </a:solidFill>
          <a:ln w="15240">
            <a:solidFill>
              <a:srgbClr val="25323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82328" y="1673352"/>
            <a:ext cx="1655064" cy="3739896"/>
          </a:xfrm>
          <a:prstGeom prst="rect">
            <a:avLst/>
          </a:prstGeom>
          <a:solidFill>
            <a:srgbClr val="07090B"/>
          </a:solidFill>
          <a:ln w="10160">
            <a:solidFill>
              <a:srgbClr val="253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57816" y="2130552"/>
            <a:ext cx="704088" cy="2514600"/>
          </a:xfrm>
          <a:prstGeom prst="ellipse">
            <a:avLst/>
          </a:prstGeom>
          <a:solidFill>
            <a:srgbClr val="07090B">
              <a:alpha val="0"/>
            </a:srgbClr>
          </a:solidFill>
          <a:ln w="25400">
            <a:solidFill>
              <a:srgbClr val="38E0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3611880"/>
            <a:ext cx="1325880" cy="0"/>
          </a:xfrm>
          <a:prstGeom prst="line">
            <a:avLst/>
          </a:prstGeom>
          <a:noFill/>
          <a:ln w="15240">
            <a:solidFill>
              <a:srgbClr val="38E0A5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892808"/>
            <a:ext cx="384048" cy="4572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892808"/>
            <a:ext cx="45720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43032" y="1892808"/>
            <a:ext cx="384048" cy="4572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1892808"/>
            <a:ext cx="45720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4" name="Shape 22"/>
          <p:cNvSpPr/>
          <p:nvPr/>
        </p:nvSpPr>
        <p:spPr>
          <a:xfrm>
            <a:off x="9756648" y="4800600"/>
            <a:ext cx="1106424" cy="347472"/>
          </a:xfrm>
          <a:prstGeom prst="roundRect">
            <a:avLst>
              <a:gd name="adj" fmla="val 21053"/>
            </a:avLst>
          </a:prstGeom>
          <a:solidFill>
            <a:srgbClr val="111A21"/>
          </a:solidFill>
          <a:ln w="10160">
            <a:solidFill>
              <a:srgbClr val="1E7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4864608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READY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4892040"/>
            <a:ext cx="2889504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9204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/ Android + iOS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22776" y="4892040"/>
            <a:ext cx="1833372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22776" y="4892040"/>
            <a:ext cx="1833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offline 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20740" y="4892040"/>
            <a:ext cx="1641348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0740" y="489204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~10.7 MB models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6235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APK  </a:t>
            </a:r>
            <a:r>
              <a:rPr lang="en-US" sz="83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https://github.com/perrysolid/NHAI/raw/main/docs/deliverables/DatalakeFaceAuth-android-universal-release.apk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demo (Vercel)  </a:t>
            </a:r>
            <a:r>
              <a:rPr lang="en-US" sz="95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nhai-three.vercel.app</a:t>
            </a:r>
            <a:r>
              <a:rPr lang="en-US" sz="9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  offline Android APK is the deliverable; the web app is for demonstration only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video  </a:t>
            </a:r>
            <a:r>
              <a:rPr lang="en-US" sz="95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drive.google.com/drive/folders/14rTxUjJ...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Authenticating field staff where there is no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accurately and securely authenticate field personnel using facial recognition and liveness detection on standard mid-range mobile devices without any active internet connection, while keeping the AI model lightweight and integrated into a React Native app on both Android and iOS?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in the auth path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MB model budget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 per verification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faces, outdoor light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fully offline biometric pipeline, on the device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 inference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liveness and recognition all run locally with bundled TFLite models. No image ever leaves the device.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35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liveness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303580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anti-spoof (MiniFASNet) plus an active blink / smile / turn challenge that defeats photos and screens.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59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 + fast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405993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+ MiniFASNet at ~10.7 MB, CPU-only, with a measured sub-second recognition budget.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084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Sync, then purge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508406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records queue locally and sync to AWS/Render only when the network returns, then purge.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on-device; the cloud is only a sync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 —  fully offline, scored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9748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67812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0678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438144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3814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808476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0847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178808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788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549140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491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919472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194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queue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383280"/>
            <a:ext cx="685800" cy="548640"/>
          </a:xfrm>
          <a:prstGeom prst="rightArrow">
            <a:avLst/>
          </a:prstGeom>
          <a:solidFill>
            <a:srgbClr val="1E7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reconnect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20116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/ RENDER  —  not in auth path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/api/sync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3447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store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49640" y="4014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purges queue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45811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 +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recognition ever happens server-side. The device decides authentication entirely offline.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VERIFICATION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→ liveness → recognize → score → sync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face, frontal pose, adequate 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33472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79776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16936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liveness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blink / smile / head-turn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10912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152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48072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48072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embedding, multi-frame best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42048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88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79208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score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79208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0-100 trust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473184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50424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0424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10344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+ sync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10344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stored, then purged on sync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photo cannot complete the live challenge — so print and screen spoofs are rejected before recognition.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ANTI-SPOOFING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layers of liveness defeat fraud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MiniFASNet anti-spoof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RGB anti-spoof model (~5.7 MB)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texture / depth cues per frame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printed photos and replays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on-device, no user effort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1546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Blink, smile or head-turn on demand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order within a 7s window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ML Kit eye/smile/pose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screen cannot respond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attempts are counted on-device and surfaced as a "presentation attacks blocked" KPI on the dashboard.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ON-DEVICE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 &amp; attention, from the same landmarks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openness per frame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9776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PERCLOS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62656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eyes-closed over a window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10912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 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93792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indicator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MICRO-SLEEP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24928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eye closure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73184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6064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LOOK-AWAY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56064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head yaw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extra model, no network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are derived on-device from the 68-point face landmarks already used for liveness. The snapshot is attached to each verified record and powers the dashboard’s fatigue analytics.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transparent, weighted Authentication Score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92024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201168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becomes a 0-1 sub-score, multiplied by a weight, summed to a single score out of 100.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0" y="310896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(0.45) — match confidence from distance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(0.25) — challenge passed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Alertness (0.10) — not drowsy, eyes open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(0.10) — frontal head pose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(0.10) — adequate illumination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17920" y="5257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below 70 are flagged low-trust for review. Identical weighting on native and web.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&amp; FOOTPRINT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Lightweight, sub-second, CPU-only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 TOTAL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 +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MINSDK (8.0+)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CALLS IN AUTH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4114800"/>
          <a:ext cx="6400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315200" y="411480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budget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landmarks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extraction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match (~0 ms)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live, shown per verify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constraint, mapped to the build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78561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Native, Android + 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— Android APK builds; iOS project incl.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~20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 MB TFLite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app/assets/models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1s recognize + liveness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latency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/ stat strip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8.0+, no GPU, 3 GB 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minSdk 26, CPU TFLite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 acc, Indian demographics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2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+ documented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doc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/ 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liveness (blink/smile/turn)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+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face/liveness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&amp; purge (AWS)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→ POST → purge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/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capabilities that stand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trust 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0-100 score across all signals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PERCLOS, blink rate, micro-sleep, look-away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0456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4" name="Text 12"/>
          <p:cNvSpPr/>
          <p:nvPr/>
        </p:nvSpPr>
        <p:spPr>
          <a:xfrm>
            <a:off x="8677656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 prompts + voice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or English, offline TTS, switchable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 offline proof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 network calls during auth" counter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70248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budget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Per-verify ms breakdown, &lt; 1s on-device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91856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0456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Operations-ready records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7888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latency, fatigue and attack flags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OPEN-SOURCE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app (Android / iOS)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0.74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react-native-vision-camera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 (encrypted store)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react-native-tts (offline voice)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Android APK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split APKs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TFLite models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app logo asset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backend (AWS / Render)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(optional) / in-memory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App Runner config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MIT or Apache-2.0 — no additional licensing required.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the offline APK, or try it in a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  ·  DELIVERABLE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https://github.com/perrysolid/NHAI/raw/main/docs/deliverables/DatalakeFaceAuth-android-universal-release.apk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deliverable: fully offline native authentication with bundled models. Installs on any Android 8+ phone.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442448" y="21762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9" name="Image 0" descr="/Users/parth/nhai/docs/deck/assets/qr-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2" y="2231136"/>
            <a:ext cx="749808" cy="7498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DEMO  ·  VERCEL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913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nhai-three.vercel.app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57800" y="35844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demonstration only: the same enroll / liveness / verify pipeline in the browser, so judges can try it instantly with no install.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442448" y="35478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15" name="Image 1" descr="/Users/parth/nhai/docs/deck/assets/qr-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3602736"/>
            <a:ext cx="749808" cy="7498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7548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 DASHBOARD  ·  RENDER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2960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datalake-face-sync.onrender.com/admin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257800" y="49560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attendance with authentication-score and drowsiness analytics.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442448" y="49194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21" name="Image 2" descr="/Users/parth/nhai/docs/deck/assets/qr-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7312" y="4974336"/>
            <a:ext cx="749808" cy="7498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VIDEO   </a:t>
            </a:r>
            <a:r>
              <a:rPr lang="en-US" sz="1100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drive.google.com/drive/folders/14rTxUjJ_Wrdt349yWkksgE51m87zO97d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B48EA1-3D91-7D98-2EBC-57250E2AE034}"/>
              </a:ext>
            </a:extLst>
          </p:cNvPr>
          <p:cNvSpPr txBox="1"/>
          <p:nvPr/>
        </p:nvSpPr>
        <p:spPr>
          <a:xfrm>
            <a:off x="6987209" y="6172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Installable mobile build is packaged with the repo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38E0A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24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07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ANDROID APK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docs/deliverables/DatalakeFaceAuth-android-universal-release.apk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universal APK for judge phones: arm64-v8a + armeabi-v7a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variant, version 1.0, package com.datalakefaceauth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TFLite + ML Kit assets verified inside the APK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still emits smaller split APKs locally if architecture-specific installs are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 / IPA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4846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does not use APK files; judges need a signed IPA or TestFlight build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 project is included at app/ios/DatalakeFaceAuth.xcodeproj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Xcode after pod install, then archive with an Apple Team profile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auth code, storage flow and UI are shared from the same app source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46520" y="50749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archive iOS only when Apple signing credentials are available.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65099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7424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APK: https://github.com/perrysolid/NHAI/raw/main/docs/deliverables/DatalakeFaceAuth-android-universal-release.apk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4" name="Shape 2"/>
          <p:cNvSpPr/>
          <p:nvPr/>
        </p:nvSpPr>
        <p:spPr>
          <a:xfrm>
            <a:off x="11515039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5" name="Shape 3"/>
          <p:cNvSpPr/>
          <p:nvPr/>
        </p:nvSpPr>
        <p:spPr>
          <a:xfrm>
            <a:off x="11857939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8" name="Shape 6"/>
          <p:cNvSpPr/>
          <p:nvPr/>
        </p:nvSpPr>
        <p:spPr>
          <a:xfrm>
            <a:off x="11515039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9" name="Shape 7"/>
          <p:cNvSpPr/>
          <p:nvPr/>
        </p:nvSpPr>
        <p:spPr>
          <a:xfrm>
            <a:off x="11857939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Production-ready core, a clear path to scale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MobileFaceNet for INT8 EdgeFace-S to shrink the recognition model further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IndicFairFace for diverse Indian-demographic robustness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benchmarking across mid-range hardware to certify &gt; 95% and &lt; 1s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FaceEngine into the existing Datalake 3.0 React Native screens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github.com/perrysolid/NHAI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1453</Words>
  <Application>Microsoft Macintosh PowerPoint</Application>
  <PresentationFormat>Widescreen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 Face Auth</dc:title>
  <dc:subject>PptxGenJS Presentation</dc:subject>
  <dc:creator>Team Datalake Face Auth</dc:creator>
  <cp:lastModifiedBy>Microsoft Office User</cp:lastModifiedBy>
  <cp:revision>2</cp:revision>
  <dcterms:created xsi:type="dcterms:W3CDTF">2026-06-05T18:25:19Z</dcterms:created>
  <dcterms:modified xsi:type="dcterms:W3CDTF">2026-06-06T07:37:18Z</dcterms:modified>
</cp:coreProperties>
</file>