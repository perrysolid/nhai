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8E0A5"/>
              </a:solidFill>
              <a:effectLst/>
            </c:spPr>
          </c:dPt>
          <c:dPt>
            <c:idx val="1"/>
            <c:bubble3D val="0"/>
            <c:spPr>
              <a:solidFill>
                <a:srgbClr val="1E7D5C"/>
              </a:solidFill>
              <a:effectLst/>
            </c:spPr>
          </c:dPt>
          <c:dPt>
            <c:idx val="2"/>
            <c:bubble3D val="0"/>
            <c:spPr>
              <a:solidFill>
                <a:srgbClr val="2FA17A"/>
              </a:solidFill>
              <a:effectLst/>
            </c:spPr>
          </c:dPt>
          <c:dPt>
            <c:idx val="3"/>
            <c:bubble3D val="0"/>
            <c:spPr>
              <a:solidFill>
                <a:srgbClr val="49B98F"/>
              </a:solidFill>
              <a:effectLst/>
            </c:spPr>
          </c:dPt>
          <c:dPt>
            <c:idx val="4"/>
            <c:bubble3D val="0"/>
            <c:spPr>
              <a:solidFill>
                <a:srgbClr val="8FE9C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7090B"/>
                      </a:solidFill>
                      <a:latin typeface="Consola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Recognition</c:v>
                </c:pt>
                <c:pt idx="1">
                  <c:v>Liveness</c:v>
                </c:pt>
                <c:pt idx="2">
                  <c:v>Alertness</c:v>
                </c:pt>
                <c:pt idx="3">
                  <c:v>Pose</c:v>
                </c:pt>
                <c:pt idx="4">
                  <c:v>Lighting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25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B97A5"/>
              </a:solidFill>
              <a:latin typeface="Consolas"/>
              <a:cs typeface="Consolas"/>
            </a:defRPr>
          </a:pPr>
          <a:endParaRPr lang="en-US"/>
        </a:p>
      </c:txPr>
    </c:legend>
    <c:plotVisOnly val="1"/>
    <c:dispBlanksAs val="span"/>
  </c:chart>
  <c:spPr>
    <a:solidFill>
      <a:srgbClr val="07090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MB</c:v>
                </c:pt>
              </c:strCache>
            </c:strRef>
          </c:tx>
          <c:spPr>
            <a:solidFill>
              <a:srgbClr val="38E0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DBE4E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E0A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323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Our models</c:v>
                  </c:pt>
                  <c:pt idx="1">
                    <c:v>20 MB budget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10.7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DBE4E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7A5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709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rrysolid/NHAI/raw/main/docs/deliverables/DatalakeFaceAuth-android-universal-release.ap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rrysolid/NHAI/raw/main/docs/deliverables/DatalakeFaceAuth-android-universal-release.apk" TargetMode="External"/><Relationship Id="rId3" Type="http://schemas.openxmlformats.org/officeDocument/2006/relationships/hyperlink" Target="https://github.com/perrysolid/NHAI/blob/main/docs/deliverables/README.md" TargetMode="External"/><Relationship Id="rId5" Type="http://schemas.openxmlformats.org/officeDocument/2006/relationships/hyperlink" Target="https://github.com/perrysolid/NHAI" TargetMode="External"/><Relationship Id="rId2" Type="http://schemas.openxmlformats.org/officeDocument/2006/relationships/image" Target="../media/image-13-1.png"/><Relationship Id="rId4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errysolid/NHAI/raw/main/docs/deliverables/DatalakeFaceAuth-android-universal-release.apk" TargetMode="External"/><Relationship Id="rId2" Type="http://schemas.openxmlformats.org/officeDocument/2006/relationships/hyperlink" Target="https://github.com/perrysolid/NHAI/raw/main/docs/deliverables/DatalakeFaceAuth-android-universal-release.ap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4" name="Shape 2"/>
          <p:cNvSpPr/>
          <p:nvPr/>
        </p:nvSpPr>
        <p:spPr>
          <a:xfrm>
            <a:off x="11515039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5" name="Shape 3"/>
          <p:cNvSpPr/>
          <p:nvPr/>
        </p:nvSpPr>
        <p:spPr>
          <a:xfrm>
            <a:off x="11857939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6" name="Shape 4"/>
          <p:cNvSpPr/>
          <p:nvPr/>
        </p:nvSpPr>
        <p:spPr>
          <a:xfrm>
            <a:off x="292608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8" name="Shape 6"/>
          <p:cNvSpPr/>
          <p:nvPr/>
        </p:nvSpPr>
        <p:spPr>
          <a:xfrm>
            <a:off x="11515039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9" name="Shape 7"/>
          <p:cNvSpPr/>
          <p:nvPr/>
        </p:nvSpPr>
        <p:spPr>
          <a:xfrm>
            <a:off x="11857939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1965960"/>
            <a:ext cx="457200" cy="20116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240280"/>
            <a:ext cx="201168" cy="20116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4712" y="2240280"/>
            <a:ext cx="201168" cy="201168"/>
          </a:xfrm>
          <a:prstGeom prst="rect">
            <a:avLst/>
          </a:prstGeom>
          <a:solidFill>
            <a:srgbClr val="1E7D5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INNOVATION HACKATHON 7.0  ·  DATALAKE 3.0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697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68680" y="3749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offline facial recognition + liveness detection for field personnel in zero-network zones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9281160" y="1417320"/>
            <a:ext cx="2057400" cy="4251960"/>
          </a:xfrm>
          <a:prstGeom prst="roundRect">
            <a:avLst>
              <a:gd name="adj" fmla="val 8000"/>
            </a:avLst>
          </a:prstGeom>
          <a:solidFill>
            <a:srgbClr val="0A0F13"/>
          </a:solidFill>
          <a:ln w="15240">
            <a:solidFill>
              <a:srgbClr val="25323B"/>
            </a:solidFill>
            <a:prstDash val="solid"/>
          </a:ln>
          <a:effectLst>
            <a:outerShdw sx="100000" sy="100000" kx="0" ky="0" algn="bl" rotWithShape="0" blurRad="38100" dist="19050" dir="27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82328" y="1673352"/>
            <a:ext cx="1655064" cy="3739896"/>
          </a:xfrm>
          <a:prstGeom prst="rect">
            <a:avLst/>
          </a:prstGeom>
          <a:solidFill>
            <a:srgbClr val="07090B"/>
          </a:solidFill>
          <a:ln w="10160">
            <a:solidFill>
              <a:srgbClr val="2532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57816" y="2130552"/>
            <a:ext cx="704088" cy="2514600"/>
          </a:xfrm>
          <a:prstGeom prst="ellipse">
            <a:avLst/>
          </a:prstGeom>
          <a:solidFill>
            <a:srgbClr val="07090B">
              <a:alpha val="0"/>
            </a:srgbClr>
          </a:solidFill>
          <a:ln w="25400">
            <a:solidFill>
              <a:srgbClr val="38E0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46920" y="3611880"/>
            <a:ext cx="1325880" cy="0"/>
          </a:xfrm>
          <a:prstGeom prst="line">
            <a:avLst/>
          </a:prstGeom>
          <a:noFill/>
          <a:ln w="15240">
            <a:solidFill>
              <a:srgbClr val="38E0A5">
                <a:alpha val="8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0" y="1892808"/>
            <a:ext cx="384048" cy="45720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0" y="1892808"/>
            <a:ext cx="45720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43032" y="1892808"/>
            <a:ext cx="384048" cy="45720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881360" y="1892808"/>
            <a:ext cx="45720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24" name="Shape 22"/>
          <p:cNvSpPr/>
          <p:nvPr/>
        </p:nvSpPr>
        <p:spPr>
          <a:xfrm>
            <a:off x="9756648" y="4800600"/>
            <a:ext cx="1106424" cy="347472"/>
          </a:xfrm>
          <a:prstGeom prst="roundRect">
            <a:avLst>
              <a:gd name="adj" fmla="val 21053"/>
            </a:avLst>
          </a:prstGeom>
          <a:solidFill>
            <a:srgbClr val="111A21"/>
          </a:solidFill>
          <a:ln w="10160">
            <a:solidFill>
              <a:srgbClr val="1E7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56648" y="4864608"/>
            <a:ext cx="1106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READY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68680" y="4892040"/>
            <a:ext cx="2889504" cy="384048"/>
          </a:xfrm>
          <a:prstGeom prst="roundRect">
            <a:avLst>
              <a:gd name="adj" fmla="val 19048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89204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Native / Android + iOS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922776" y="4892040"/>
            <a:ext cx="1833372" cy="384048"/>
          </a:xfrm>
          <a:prstGeom prst="roundRect">
            <a:avLst>
              <a:gd name="adj" fmla="val 19048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22776" y="4892040"/>
            <a:ext cx="18333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offline auth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920740" y="4892040"/>
            <a:ext cx="1641348" cy="384048"/>
          </a:xfrm>
          <a:prstGeom prst="roundRect">
            <a:avLst>
              <a:gd name="adj" fmla="val 19048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20740" y="4892040"/>
            <a:ext cx="16413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~10.7 MB models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8680" y="562356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APK  </a:t>
            </a:r>
            <a:pPr indent="0" marL="0">
              <a:buNone/>
            </a:pPr>
            <a:r>
              <a:rPr lang="en-US" sz="830" u="sng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https://github.com/perrysolid/NHAI/raw/main/docs/deliverables/DatalakeFaceAuth-android-universal-release.apk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68680" y="59893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 flow: open APK -&gt; choose Verify or Enroll -&gt; local face template -&gt; local verification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Authenticating field staff where there is no network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65960"/>
            <a:ext cx="73152" cy="1783080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we accurately and securely authenticate field personnel using facial recognition and liveness detection on standard mid-range mobile devices without any active internet connection, while keeping the AI model lightweight and integrated into a React Native app on both Android and iOS?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in the auth path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LIGHTWEIGHT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MB model budget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second per verification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15400" y="4114800"/>
            <a:ext cx="2670048" cy="1554480"/>
          </a:xfrm>
          <a:prstGeom prst="roundRect">
            <a:avLst>
              <a:gd name="adj" fmla="val 4706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42976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INCLUSIVE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0" y="470916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faces, outdoor light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fully offline biometric pipeline, on the device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On-device inference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937760" y="20116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liveness and recognition all run locally with bundled TFLite models. No image ever leaves the device.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81528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30358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 liveness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37760" y="3035808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anti-spoof (MiniFASNet) plus an active blink / smile / turn challenge that defeats photos and screens.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05656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405993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Lightweight + fast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937760" y="4059936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MobileFaceNet + MiniFASNet at ~10.7 MB, CPU-only, with a measured sub-second recognition budget.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129784"/>
            <a:ext cx="457200" cy="457200"/>
          </a:xfrm>
          <a:prstGeom prst="ellipse">
            <a:avLst/>
          </a:prstGeom>
          <a:solidFill>
            <a:srgbClr val="111A21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50840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Sync, then purge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937760" y="5084064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records queue locally and sync to AWS/Render only when the network returns, then purge.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on-device; the cloud is only a sync target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6766560" cy="3383280"/>
          </a:xfrm>
          <a:prstGeom prst="roundRect">
            <a:avLst>
              <a:gd name="adj" fmla="val 2162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  —  fully offline, scored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697480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9748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3067812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06781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detect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438144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438144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808476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808476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4178808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1788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4549140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4914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919472"/>
            <a:ext cx="6126480" cy="329184"/>
          </a:xfrm>
          <a:prstGeom prst="roundRect">
            <a:avLst>
              <a:gd name="adj" fmla="val 22222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91947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queue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52360" y="3383280"/>
            <a:ext cx="685800" cy="548640"/>
          </a:xfrm>
          <a:prstGeom prst="rightArrow">
            <a:avLst/>
          </a:prstGeom>
          <a:solidFill>
            <a:srgbClr val="1E7D5C"/>
          </a:solidFill>
          <a:ln/>
        </p:spPr>
      </p:sp>
      <p:sp>
        <p:nvSpPr>
          <p:cNvPr id="21" name="Text 19"/>
          <p:cNvSpPr/>
          <p:nvPr/>
        </p:nvSpPr>
        <p:spPr>
          <a:xfrm>
            <a:off x="726948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reconnect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321040" y="201168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194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/ RENDER  —  not in auth path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4964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/api/sync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549640" y="34472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+ store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49640" y="40142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purges queue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549640" y="45811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 + analytics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recognition ever happens server-side. The device decides authentication entirely offline.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A VERIFICATION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 → liveness → recognize → score → sync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gates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face, frontal pose, adequate light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33472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779776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7016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7016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16936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liveness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blink / smile / head-turn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64608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010912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88152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88152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48072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Recognition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48072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512-d embedding, multi-frame best match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95744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242048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19288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19288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79208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score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79208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0-100 trust score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6880" y="32004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E7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473184" y="2286000"/>
            <a:ext cx="2139696" cy="2468880"/>
          </a:xfrm>
          <a:prstGeom prst="roundRect">
            <a:avLst>
              <a:gd name="adj" fmla="val 3419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50424" y="2514600"/>
            <a:ext cx="585216" cy="585216"/>
          </a:xfrm>
          <a:prstGeom prst="ellipse">
            <a:avLst/>
          </a:prstGeom>
          <a:solidFill>
            <a:srgbClr val="0A0F13"/>
          </a:solidFill>
          <a:ln w="19050">
            <a:solidFill>
              <a:srgbClr val="38E0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50424" y="2514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610344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+ sync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10344" y="3886200"/>
            <a:ext cx="1865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stored, then purged on sync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photo cannot complete the live challenge — so print and screen spoofs are rejected before recognition.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ANTI-SPOOFING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layers of liveness defeat fraud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MiniFASNet anti-spoof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RGB anti-spoof model (~5.7 MB)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texture / depth cues per frame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printed photos and replays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on-device, no user effort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0116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Randomized challenge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Blink, smile or head-turn on demand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order within a 7s window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from ML Kit eye/smile/pose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or screen cannot respond live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attempts are counted on-device and surfaced as a "presentation attacks blocked" KPI on the dashboard.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 ·  ON-DEVICE MONITORING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Drowsiness &amp; attention, from the same landmarks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openness per frame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9776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PERCLOS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62656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eyes-closed over a window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10912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3792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BLINK RATE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93792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indicator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42048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24928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MICRO-SLEEP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24928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eye closure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73184" y="2103120"/>
            <a:ext cx="2139696" cy="1783080"/>
          </a:xfrm>
          <a:prstGeom prst="roundRect">
            <a:avLst>
              <a:gd name="adj" fmla="val 4103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56064" y="233172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LOOK-AWAY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56064" y="2834640"/>
            <a:ext cx="1819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head yaw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extra model, no network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metrics are derived on-device from the 68-point face landmarks already used for liveness. The snapshot is attached to each verified record and powers the dashboard’s fatigue analytics.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transparent, weighted Authentication Score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920240"/>
          <a:ext cx="5120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2011680"/>
            <a:ext cx="5669280" cy="3931920"/>
          </a:xfrm>
          <a:prstGeom prst="roundRect">
            <a:avLst>
              <a:gd name="adj" fmla="val 186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2240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becomes a 0-1 sub-score, multiplied by a weight, summed to a single score out of 100.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217920" y="310896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(0.45) — match confidence from distance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(0.25) — challenge passed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Alertness (0.10) — not drowsy, eyes open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(0.10) — frontal head pose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 (0.10) — adequate illumination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217920" y="52578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below 70 are flagged low-trust for review. Identical weighting on native and web.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PERFORMANCE &amp; FOOTPRINT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Lightweight, sub-second, CPU-only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TOTAL MODELS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6616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RECOGNIZE + MATCH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5508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MINSDK (8.0+)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2402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44000" y="30815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CALLS IN AUTH</a:t>
            </a:r>
            <a:endParaRPr lang="en-US" sz="11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4114800"/>
          <a:ext cx="64008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315200" y="4114800"/>
            <a:ext cx="4297680" cy="2103120"/>
          </a:xfrm>
          <a:prstGeom prst="roundRect">
            <a:avLst>
              <a:gd name="adj" fmla="val 3478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8952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budget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589520" y="475488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+ landmarks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extraction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match (~0 ms)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live, shown per verify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constraint, mapped to the build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4206240"/>
                <a:gridCol w="22860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8E0A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8E0A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Status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8E0A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Where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Native, Android + iOS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— Android APK builds; iOS project incl.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~20 MB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 MB TFLite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app/assets/models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1s recognize + liveness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On-device latency 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/ stat strip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8.0+, no GPU, 3 GB 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minSdk 26, CPU TFLite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android/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95% acc, Indian demographics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B3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+ documented validation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doc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/ Apache-2.0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liveness (blink/smile/turn)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Passive + active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face/liveness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&amp; purge (AWS)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8E0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→ POST → purge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B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/ backend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090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BEYOND THE BRIEF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capabilities that stand out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1343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25856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trust score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77063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0-100 score across all signals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0248" y="205740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8848" y="231343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10" name="Text 8"/>
          <p:cNvSpPr/>
          <p:nvPr/>
        </p:nvSpPr>
        <p:spPr>
          <a:xfrm>
            <a:off x="4956048" y="225856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Drowsiness monitoring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277063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PERCLOS, blink rate, micro-sleep, look-away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05740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0456" y="231343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14" name="Text 12"/>
          <p:cNvSpPr/>
          <p:nvPr/>
        </p:nvSpPr>
        <p:spPr>
          <a:xfrm>
            <a:off x="8677656" y="225856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Bilingual prompts + voice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47888" y="277063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or English, offline TTS, switchable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5079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399592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Verifiable offline proof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" y="450799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"0 network calls during auth" counter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270248" y="379476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98848" y="405079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22" name="Text 20"/>
          <p:cNvSpPr/>
          <p:nvPr/>
        </p:nvSpPr>
        <p:spPr>
          <a:xfrm>
            <a:off x="4956048" y="399592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Latency budget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26280" y="450799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Per-verify ms breakdown, &lt; 1s on-device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991856" y="3794760"/>
            <a:ext cx="3593592" cy="1572768"/>
          </a:xfrm>
          <a:prstGeom prst="roundRect">
            <a:avLst>
              <a:gd name="adj" fmla="val 465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0456" y="4050792"/>
            <a:ext cx="310896" cy="310896"/>
          </a:xfrm>
          <a:prstGeom prst="ellipse">
            <a:avLst/>
          </a:prstGeom>
          <a:solidFill>
            <a:srgbClr val="38E0A5"/>
          </a:solidFill>
          <a:ln/>
        </p:spPr>
      </p:sp>
      <p:sp>
        <p:nvSpPr>
          <p:cNvPr id="26" name="Text 24"/>
          <p:cNvSpPr/>
          <p:nvPr/>
        </p:nvSpPr>
        <p:spPr>
          <a:xfrm>
            <a:off x="8677656" y="399592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Operations-ready records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47888" y="4507992"/>
            <a:ext cx="3136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latency, fatigue and attack flags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WITH OPEN-SOURCE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630168" cy="3749040"/>
          </a:xfrm>
          <a:prstGeom prst="roundRect">
            <a:avLst>
              <a:gd name="adj" fmla="val 201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3264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 app (Android / iOS)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880360"/>
            <a:ext cx="32186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0.74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react-native-vision-camera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react-native-fast-tflite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Kit face detection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MMKV (encrypted store)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react-native-tts (offline voice)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630168" cy="3749040"/>
          </a:xfrm>
          <a:prstGeom prst="roundRect">
            <a:avLst>
              <a:gd name="adj" fmla="val 201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194560"/>
            <a:ext cx="3264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 package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880360"/>
            <a:ext cx="32186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Android APK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split APKs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TFLite models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app logo asset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630168" cy="3749040"/>
          </a:xfrm>
          <a:prstGeom prst="roundRect">
            <a:avLst>
              <a:gd name="adj" fmla="val 201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194560"/>
            <a:ext cx="3264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 backend (AWS / Render)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880360"/>
            <a:ext cx="32186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(optional) / in-memory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App Runner config</a:t>
            </a:r>
            <a:endParaRPr lang="en-US" sz="13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 dashboard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components are MIT or Apache-2.0 — no additional licensing required.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APK for judge install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64240" cy="1207008"/>
          </a:xfrm>
          <a:prstGeom prst="roundRect">
            <a:avLst>
              <a:gd name="adj" fmla="val 606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42032"/>
            <a:ext cx="9372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https://github.com/perrysolid/NHAI/raw/main/docs/deliverables/DatalakeFaceAuth-android-universal-release.apk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822960" y="2953512"/>
            <a:ext cx="9235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judge install. Fully offline native authentication with bundled models.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442448" y="2176272"/>
            <a:ext cx="859536" cy="859536"/>
          </a:xfrm>
          <a:prstGeom prst="rect">
            <a:avLst/>
          </a:prstGeom>
          <a:solidFill>
            <a:srgbClr val="38E0A5"/>
          </a:solidFill>
          <a:ln w="6350">
            <a:solidFill>
              <a:srgbClr val="38E0A5"/>
            </a:solidFill>
            <a:prstDash val="solid"/>
          </a:ln>
        </p:spPr>
      </p:sp>
      <p:pic>
        <p:nvPicPr>
          <p:cNvPr id="9" name="Image 0" descr="/Users/parth/nhai/docs/deck/assets/qr-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2" y="2231136"/>
            <a:ext cx="749808" cy="7498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3383280"/>
            <a:ext cx="11064240" cy="1207008"/>
          </a:xfrm>
          <a:prstGeom prst="roundRect">
            <a:avLst>
              <a:gd name="adj" fmla="val 606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566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 NOTES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docs/deliverables/README.md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257800" y="358444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command, APK hashes, Android target and iOS packaging notes.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442448" y="3547872"/>
            <a:ext cx="859536" cy="859536"/>
          </a:xfrm>
          <a:prstGeom prst="rect">
            <a:avLst/>
          </a:prstGeom>
          <a:solidFill>
            <a:srgbClr val="38E0A5"/>
          </a:solidFill>
          <a:ln w="6350">
            <a:solidFill>
              <a:srgbClr val="38E0A5"/>
            </a:solidFill>
            <a:prstDash val="solid"/>
          </a:ln>
        </p:spPr>
      </p:sp>
      <p:pic>
        <p:nvPicPr>
          <p:cNvPr id="15" name="Image 1" descr="/Users/parth/nhai/docs/deck/assets/qr-githu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2" y="3602736"/>
            <a:ext cx="749808" cy="74980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48640" y="4754880"/>
            <a:ext cx="11064240" cy="1207008"/>
          </a:xfrm>
          <a:prstGeom prst="roundRect">
            <a:avLst>
              <a:gd name="adj" fmla="val 6061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CODE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22960" y="52852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github.com/perrysolid/NHAI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4956048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app, backend and full documentation.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10442448" y="4919472"/>
            <a:ext cx="859536" cy="859536"/>
          </a:xfrm>
          <a:prstGeom prst="rect">
            <a:avLst/>
          </a:prstGeom>
          <a:solidFill>
            <a:srgbClr val="38E0A5"/>
          </a:solidFill>
          <a:ln w="6350">
            <a:solidFill>
              <a:srgbClr val="38E0A5"/>
            </a:solidFill>
            <a:prstDash val="solid"/>
          </a:ln>
        </p:spPr>
      </p:sp>
      <p:pic>
        <p:nvPicPr>
          <p:cNvPr id="21" name="Image 2" descr="/Users/parth/nhai/docs/deck/assets/qr-githu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4974336"/>
            <a:ext cx="749808" cy="7498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 PACKAGE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Installable mobile build is packaged with the repo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 APK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542032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38E0A5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2432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u="sng" dirty="0">
                <a:solidFill>
                  <a:srgbClr val="07090B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DOWNLOAD ANDROID APK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48006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 docs/deliverables/DatalakeFaceAuth-android-universal-release.apk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universal APK for judge phones: arm64-v8a + armeabi-v7a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variant, version 1.0, package com.datalakefaceauth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TFLite + ML Kit assets verified inside the APK</a:t>
            </a:r>
            <a:endParaRPr lang="en-US" sz="1280" dirty="0"/>
          </a:p>
        </p:txBody>
      </p:sp>
      <p:sp>
        <p:nvSpPr>
          <p:cNvPr id="9" name="Text 7"/>
          <p:cNvSpPr/>
          <p:nvPr/>
        </p:nvSpPr>
        <p:spPr>
          <a:xfrm>
            <a:off x="822960" y="5074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 still emits smaller split APKs locally if architecture-specific installs are needed.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874520"/>
            <a:ext cx="5440680" cy="3611880"/>
          </a:xfrm>
          <a:prstGeom prst="roundRect">
            <a:avLst>
              <a:gd name="adj" fmla="val 2025"/>
            </a:avLst>
          </a:prstGeom>
          <a:solidFill>
            <a:srgbClr val="111A21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 / IPA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46520" y="2651760"/>
            <a:ext cx="484632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does not use APK files; judges need a signed IPA or TestFlight build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iOS project is included at app/ios/DatalakeFaceAuth.xcodeproj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Xcode after pod install, then archive with an Apple Team profile</a:t>
            </a:r>
            <a:endParaRPr lang="en-US" sz="128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28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auth code, storage flow and UI are shared from the same app source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6446520" y="507492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archive iOS only when Apple signing credentials are available.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650992"/>
            <a:ext cx="11064240" cy="438912"/>
          </a:xfrm>
          <a:prstGeom prst="roundRect">
            <a:avLst>
              <a:gd name="adj" fmla="val 16667"/>
            </a:avLst>
          </a:prstGeom>
          <a:solidFill>
            <a:srgbClr val="0A0F13"/>
          </a:solidFill>
          <a:ln w="1270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742432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 APK: https://github.com/perrysolid/NHAI/raw/main/docs/deliverables/DatalakeFaceAuth-android-universal-release.apk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DATALAKE FACE AUTH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985455" y="6446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A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NHAI DATALAKE 3.0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3157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608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4" name="Shape 2"/>
          <p:cNvSpPr/>
          <p:nvPr/>
        </p:nvSpPr>
        <p:spPr>
          <a:xfrm>
            <a:off x="11515039" y="292608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5" name="Shape 3"/>
          <p:cNvSpPr/>
          <p:nvPr/>
        </p:nvSpPr>
        <p:spPr>
          <a:xfrm>
            <a:off x="11857939" y="292608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6" name="Shape 4"/>
          <p:cNvSpPr/>
          <p:nvPr/>
        </p:nvSpPr>
        <p:spPr>
          <a:xfrm>
            <a:off x="292608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7" name="Shape 5"/>
          <p:cNvSpPr/>
          <p:nvPr/>
        </p:nvSpPr>
        <p:spPr>
          <a:xfrm>
            <a:off x="292608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8" name="Shape 6"/>
          <p:cNvSpPr/>
          <p:nvPr/>
        </p:nvSpPr>
        <p:spPr>
          <a:xfrm>
            <a:off x="11515039" y="6524244"/>
            <a:ext cx="384048" cy="411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9" name="Shape 7"/>
          <p:cNvSpPr/>
          <p:nvPr/>
        </p:nvSpPr>
        <p:spPr>
          <a:xfrm>
            <a:off x="11857939" y="6181344"/>
            <a:ext cx="41148" cy="384048"/>
          </a:xfrm>
          <a:prstGeom prst="rect">
            <a:avLst/>
          </a:prstGeom>
          <a:solidFill>
            <a:srgbClr val="38E0A5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 ROADMAP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BE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Production-ready core, a clear path to scale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68680" y="274320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MobileFaceNet for INT8 EdgeFace-S to shrink the recognition model further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on IndicFairFace for diverse Indian-demographic robustness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benchmarking across mid-range hardware to certify &gt; 95% and &lt; 1s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B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FaceEngine into the existing Datalake 3.0 React Native screens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E0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68680" y="5715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7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github.com/perrysolid/NHAI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Datalake Face Auth</dc:title>
  <dc:subject>PptxGenJS Presentation</dc:subject>
  <dc:creator>Team Datalake Face Auth</dc:creator>
  <cp:lastModifiedBy>Team Datalake Face Auth</cp:lastModifiedBy>
  <cp:revision>1</cp:revision>
  <dcterms:created xsi:type="dcterms:W3CDTF">2026-06-05T17:38:58Z</dcterms:created>
  <dcterms:modified xsi:type="dcterms:W3CDTF">2026-06-05T17:38:58Z</dcterms:modified>
</cp:coreProperties>
</file>