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8E0A5"/>
              </a:solidFill>
              <a:effectLst/>
            </c:spPr>
          </c:dPt>
          <c:dPt>
            <c:idx val="1"/>
            <c:bubble3D val="0"/>
            <c:spPr>
              <a:solidFill>
                <a:srgbClr val="1E7D5C"/>
              </a:solidFill>
              <a:effectLst/>
            </c:spPr>
          </c:dPt>
          <c:dPt>
            <c:idx val="2"/>
            <c:bubble3D val="0"/>
            <c:spPr>
              <a:solidFill>
                <a:srgbClr val="2FA17A"/>
              </a:solidFill>
              <a:effectLst/>
            </c:spPr>
          </c:dPt>
          <c:dPt>
            <c:idx val="3"/>
            <c:bubble3D val="0"/>
            <c:spPr>
              <a:solidFill>
                <a:srgbClr val="49B98F"/>
              </a:solidFill>
              <a:effectLst/>
            </c:spPr>
          </c:dPt>
          <c:dPt>
            <c:idx val="4"/>
            <c:bubble3D val="0"/>
            <c:spPr>
              <a:solidFill>
                <a:srgbClr val="8FE9C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7090B"/>
                      </a:solidFill>
                      <a:latin typeface="Consola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7090B"/>
                      </a:solidFill>
                      <a:latin typeface="Consola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7090B"/>
                      </a:solidFill>
                      <a:latin typeface="Consola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7090B"/>
                      </a:solidFill>
                      <a:latin typeface="Consola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7090B"/>
                      </a:solidFill>
                      <a:latin typeface="Consola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Recognition</c:v>
                </c:pt>
                <c:pt idx="1">
                  <c:v>Liveness</c:v>
                </c:pt>
                <c:pt idx="2">
                  <c:v>Alertness</c:v>
                </c:pt>
                <c:pt idx="3">
                  <c:v>Pose</c:v>
                </c:pt>
                <c:pt idx="4">
                  <c:v>Lighting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45</c:v>
                </c:pt>
                <c:pt idx="1">
                  <c:v>25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8B97A5"/>
              </a:solidFill>
              <a:latin typeface="Consolas"/>
              <a:cs typeface="Consolas"/>
            </a:defRPr>
          </a:pPr>
          <a:endParaRPr lang="en-US"/>
        </a:p>
      </c:txPr>
    </c:legend>
    <c:plotVisOnly val="1"/>
    <c:dispBlanksAs val="span"/>
  </c:chart>
  <c:spPr>
    <a:solidFill>
      <a:srgbClr val="07090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MB</c:v>
                </c:pt>
              </c:strCache>
            </c:strRef>
          </c:tx>
          <c:spPr>
            <a:solidFill>
              <a:srgbClr val="38E0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DBE4E8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8E0A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323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Our models</c:v>
                  </c:pt>
                  <c:pt idx="1">
                    <c:v>20 MB budget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10.7</c:v>
                </c:pt>
                <c:pt idx="1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DBE4E8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7A5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7090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perrysolid/NHAI/raw/main/docs/deliverables/DatalakeFaceAuth-android-universal-release.apk" TargetMode="External"/><Relationship Id="rId2" Type="http://schemas.openxmlformats.org/officeDocument/2006/relationships/hyperlink" Target="https://nhai-three.vercel.app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perrysolid/NHAI/raw/main/docs/deliverables/DatalakeFaceAuth-android-universal-release.apk" TargetMode="External"/><Relationship Id="rId3" Type="http://schemas.openxmlformats.org/officeDocument/2006/relationships/hyperlink" Target="https://nhai-three.vercel.app" TargetMode="External"/><Relationship Id="rId5" Type="http://schemas.openxmlformats.org/officeDocument/2006/relationships/hyperlink" Target="https://github.com/perrysolid/NHAI" TargetMode="External"/><Relationship Id="rId2" Type="http://schemas.openxmlformats.org/officeDocument/2006/relationships/image" Target="../media/image-13-1.png"/><Relationship Id="rId4" Type="http://schemas.openxmlformats.org/officeDocument/2006/relationships/image" Target="../media/image-13-2.png"/><Relationship Id="rId6" Type="http://schemas.openxmlformats.org/officeDocument/2006/relationships/image" Target="../media/image-13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perrysolid/NHAI/raw/main/docs/deliverables/DatalakeFaceAuth-android-universal-release.apk" TargetMode="External"/><Relationship Id="rId2" Type="http://schemas.openxmlformats.org/officeDocument/2006/relationships/hyperlink" Target="https://github.com/perrysolid/NHAI/raw/main/docs/deliverables/DatalakeFaceAuth-android-universal-release.apk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92608"/>
            <a:ext cx="384048" cy="41148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292608"/>
            <a:ext cx="41148" cy="384048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4" name="Shape 2"/>
          <p:cNvSpPr/>
          <p:nvPr/>
        </p:nvSpPr>
        <p:spPr>
          <a:xfrm>
            <a:off x="11515039" y="292608"/>
            <a:ext cx="384048" cy="41148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5" name="Shape 3"/>
          <p:cNvSpPr/>
          <p:nvPr/>
        </p:nvSpPr>
        <p:spPr>
          <a:xfrm>
            <a:off x="11857939" y="292608"/>
            <a:ext cx="41148" cy="384048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6" name="Shape 4"/>
          <p:cNvSpPr/>
          <p:nvPr/>
        </p:nvSpPr>
        <p:spPr>
          <a:xfrm>
            <a:off x="292608" y="6524244"/>
            <a:ext cx="384048" cy="41148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7" name="Shape 5"/>
          <p:cNvSpPr/>
          <p:nvPr/>
        </p:nvSpPr>
        <p:spPr>
          <a:xfrm>
            <a:off x="292608" y="6181344"/>
            <a:ext cx="41148" cy="384048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8" name="Shape 6"/>
          <p:cNvSpPr/>
          <p:nvPr/>
        </p:nvSpPr>
        <p:spPr>
          <a:xfrm>
            <a:off x="11515039" y="6524244"/>
            <a:ext cx="384048" cy="41148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9" name="Shape 7"/>
          <p:cNvSpPr/>
          <p:nvPr/>
        </p:nvSpPr>
        <p:spPr>
          <a:xfrm>
            <a:off x="11857939" y="6181344"/>
            <a:ext cx="41148" cy="384048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1965960"/>
            <a:ext cx="457200" cy="201168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2240280"/>
            <a:ext cx="201168" cy="201168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12" name="Shape 10"/>
          <p:cNvSpPr/>
          <p:nvPr/>
        </p:nvSpPr>
        <p:spPr>
          <a:xfrm>
            <a:off x="1124712" y="2240280"/>
            <a:ext cx="201168" cy="201168"/>
          </a:xfrm>
          <a:prstGeom prst="rect">
            <a:avLst/>
          </a:prstGeom>
          <a:solidFill>
            <a:srgbClr val="1E7D5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NHAI INNOVATION HACKATHON 7.0  ·  DATALAKE 3.0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6974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Datalake Face Auth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868680" y="3749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offline facial recognition + liveness detection for field personnel in zero-network zones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9281160" y="1417320"/>
            <a:ext cx="2057400" cy="4251960"/>
          </a:xfrm>
          <a:prstGeom prst="roundRect">
            <a:avLst>
              <a:gd name="adj" fmla="val 8000"/>
            </a:avLst>
          </a:prstGeom>
          <a:solidFill>
            <a:srgbClr val="0A0F13"/>
          </a:solidFill>
          <a:ln w="15240">
            <a:solidFill>
              <a:srgbClr val="25323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482328" y="1673352"/>
            <a:ext cx="1655064" cy="3739896"/>
          </a:xfrm>
          <a:prstGeom prst="rect">
            <a:avLst/>
          </a:prstGeom>
          <a:solidFill>
            <a:srgbClr val="07090B"/>
          </a:solidFill>
          <a:ln w="10160">
            <a:solidFill>
              <a:srgbClr val="2532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57816" y="2130552"/>
            <a:ext cx="704088" cy="2514600"/>
          </a:xfrm>
          <a:prstGeom prst="ellipse">
            <a:avLst/>
          </a:prstGeom>
          <a:solidFill>
            <a:srgbClr val="07090B">
              <a:alpha val="0"/>
            </a:srgbClr>
          </a:solidFill>
          <a:ln w="25400">
            <a:solidFill>
              <a:srgbClr val="38E0A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46920" y="3611880"/>
            <a:ext cx="1325880" cy="0"/>
          </a:xfrm>
          <a:prstGeom prst="line">
            <a:avLst/>
          </a:prstGeom>
          <a:noFill/>
          <a:ln w="15240">
            <a:solidFill>
              <a:srgbClr val="38E0A5">
                <a:alpha val="8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0" y="1892808"/>
            <a:ext cx="384048" cy="45720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21" name="Shape 19"/>
          <p:cNvSpPr/>
          <p:nvPr/>
        </p:nvSpPr>
        <p:spPr>
          <a:xfrm>
            <a:off x="9692640" y="1892808"/>
            <a:ext cx="45720" cy="384048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22" name="Shape 20"/>
          <p:cNvSpPr/>
          <p:nvPr/>
        </p:nvSpPr>
        <p:spPr>
          <a:xfrm>
            <a:off x="10543032" y="1892808"/>
            <a:ext cx="384048" cy="45720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23" name="Shape 21"/>
          <p:cNvSpPr/>
          <p:nvPr/>
        </p:nvSpPr>
        <p:spPr>
          <a:xfrm>
            <a:off x="10881360" y="1892808"/>
            <a:ext cx="45720" cy="384048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24" name="Shape 22"/>
          <p:cNvSpPr/>
          <p:nvPr/>
        </p:nvSpPr>
        <p:spPr>
          <a:xfrm>
            <a:off x="9756648" y="4800600"/>
            <a:ext cx="1106424" cy="347472"/>
          </a:xfrm>
          <a:prstGeom prst="roundRect">
            <a:avLst>
              <a:gd name="adj" fmla="val 21053"/>
            </a:avLst>
          </a:prstGeom>
          <a:solidFill>
            <a:srgbClr val="111A21"/>
          </a:solidFill>
          <a:ln w="10160">
            <a:solidFill>
              <a:srgbClr val="1E7D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56648" y="4864608"/>
            <a:ext cx="110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 READY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68680" y="4892040"/>
            <a:ext cx="2889504" cy="384048"/>
          </a:xfrm>
          <a:prstGeom prst="roundRect">
            <a:avLst>
              <a:gd name="adj" fmla="val 19048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892040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Native / Android + iOS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922776" y="4892040"/>
            <a:ext cx="1833372" cy="384048"/>
          </a:xfrm>
          <a:prstGeom prst="roundRect">
            <a:avLst>
              <a:gd name="adj" fmla="val 19048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22776" y="4892040"/>
            <a:ext cx="18333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 offline auth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20740" y="4892040"/>
            <a:ext cx="1641348" cy="384048"/>
          </a:xfrm>
          <a:prstGeom prst="roundRect">
            <a:avLst>
              <a:gd name="adj" fmla="val 19048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20740" y="4892040"/>
            <a:ext cx="16413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~10.7 MB models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8680" y="56235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 APK  </a:t>
            </a:r>
            <a:pPr indent="0" marL="0">
              <a:buNone/>
            </a:pPr>
            <a:r>
              <a:rPr lang="en-US" sz="830" u="sng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https://github.com/perrysolid/NHAI/raw/main/docs/deliverables/DatalakeFaceAuth-android-universal-release.apk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68680" y="59893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demo  </a:t>
            </a:r>
            <a:pPr indent="0" marL="0">
              <a:buNone/>
            </a:pPr>
            <a:r>
              <a:rPr lang="en-US" sz="1050" u="sng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nhai-three.vercel.app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Authenticating field staff where there is no network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73152" cy="1783080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we accurately and securely authenticate field personnel using facial recognition and liveness detection on standard mid-range mobile devices without any active internet connection, while keeping the AI model lightweight and integrated into a React Native app on both Android and iOS?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2670048" cy="1554480"/>
          </a:xfrm>
          <a:prstGeom prst="roundRect">
            <a:avLst>
              <a:gd name="adj" fmla="val 4706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29768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OFFLINE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4709160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network in the auth path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37560" y="4114800"/>
            <a:ext cx="2670048" cy="1554480"/>
          </a:xfrm>
          <a:prstGeom prst="roundRect">
            <a:avLst>
              <a:gd name="adj" fmla="val 4706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429768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LIGHTWEIGHT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66160" y="4709160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MB model budget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4114800"/>
            <a:ext cx="2670048" cy="1554480"/>
          </a:xfrm>
          <a:prstGeom prst="roundRect">
            <a:avLst>
              <a:gd name="adj" fmla="val 4706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429768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4709160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second per verification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15400" y="4114800"/>
            <a:ext cx="2670048" cy="1554480"/>
          </a:xfrm>
          <a:prstGeom prst="roundRect">
            <a:avLst>
              <a:gd name="adj" fmla="val 4706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429768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INCLUSIVE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0" y="4709160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faces, outdoor light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DATALAKE FACE AUTH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85455" y="6446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NHAI DATALAKE 3.0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fully offline biometric pipeline, on the device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457200" cy="457200"/>
          </a:xfrm>
          <a:prstGeom prst="ellipse">
            <a:avLst/>
          </a:prstGeom>
          <a:solidFill>
            <a:srgbClr val="111A21"/>
          </a:solidFill>
          <a:ln w="19050">
            <a:solidFill>
              <a:srgbClr val="38E0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2011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On-device inference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937760" y="20116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Detection, liveness and recognition all run locally with bundled TFLite models. No image ever leaves the device.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081528"/>
            <a:ext cx="457200" cy="457200"/>
          </a:xfrm>
          <a:prstGeom prst="ellipse">
            <a:avLst/>
          </a:prstGeom>
          <a:solidFill>
            <a:srgbClr val="111A21"/>
          </a:solidFill>
          <a:ln w="19050">
            <a:solidFill>
              <a:srgbClr val="38E0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30358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Dual liveness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37760" y="3035808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anti-spoof (MiniFASNet) plus an active blink / smile / turn challenge that defeats photos and screens.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105656"/>
            <a:ext cx="457200" cy="457200"/>
          </a:xfrm>
          <a:prstGeom prst="ellipse">
            <a:avLst/>
          </a:prstGeom>
          <a:solidFill>
            <a:srgbClr val="111A21"/>
          </a:solidFill>
          <a:ln w="19050">
            <a:solidFill>
              <a:srgbClr val="38E0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105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405993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Lightweight + fast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937760" y="4059936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MobileFaceNet + MiniFASNet at ~10.7 MB, CPU-only, with a measured sub-second recognition budget.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129784"/>
            <a:ext cx="457200" cy="457200"/>
          </a:xfrm>
          <a:prstGeom prst="ellipse">
            <a:avLst/>
          </a:prstGeom>
          <a:solidFill>
            <a:srgbClr val="111A21"/>
          </a:solidFill>
          <a:ln w="19050">
            <a:solidFill>
              <a:srgbClr val="38E0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129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508406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Sync, then purge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937760" y="5084064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records queue locally and sync to AWS/Render only when the network returns, then purge.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DATALAKE FACE AUTH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985455" y="6446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NHAI DATALAKE 3.0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 on-device; the cloud is only a sync target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6766560" cy="3383280"/>
          </a:xfrm>
          <a:prstGeom prst="roundRect">
            <a:avLst>
              <a:gd name="adj" fmla="val 2162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94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  —  fully offline, scored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697480"/>
            <a:ext cx="6126480" cy="329184"/>
          </a:xfrm>
          <a:prstGeom prst="roundRect">
            <a:avLst>
              <a:gd name="adj" fmla="val 22222"/>
            </a:avLst>
          </a:prstGeom>
          <a:solidFill>
            <a:srgbClr val="0A0F13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697480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3067812"/>
            <a:ext cx="6126480" cy="329184"/>
          </a:xfrm>
          <a:prstGeom prst="roundRect">
            <a:avLst>
              <a:gd name="adj" fmla="val 22222"/>
            </a:avLst>
          </a:prstGeom>
          <a:solidFill>
            <a:srgbClr val="0A0F13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067812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438144"/>
            <a:ext cx="6126480" cy="329184"/>
          </a:xfrm>
          <a:prstGeom prst="roundRect">
            <a:avLst>
              <a:gd name="adj" fmla="val 22222"/>
            </a:avLst>
          </a:prstGeom>
          <a:solidFill>
            <a:srgbClr val="0A0F13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438144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808476"/>
            <a:ext cx="6126480" cy="329184"/>
          </a:xfrm>
          <a:prstGeom prst="roundRect">
            <a:avLst>
              <a:gd name="adj" fmla="val 22222"/>
            </a:avLst>
          </a:prstGeom>
          <a:solidFill>
            <a:srgbClr val="0A0F13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808476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" y="4178808"/>
            <a:ext cx="6126480" cy="329184"/>
          </a:xfrm>
          <a:prstGeom prst="roundRect">
            <a:avLst>
              <a:gd name="adj" fmla="val 22222"/>
            </a:avLst>
          </a:prstGeom>
          <a:solidFill>
            <a:srgbClr val="0A0F13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178808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4549140"/>
            <a:ext cx="6126480" cy="329184"/>
          </a:xfrm>
          <a:prstGeom prst="roundRect">
            <a:avLst>
              <a:gd name="adj" fmla="val 22222"/>
            </a:avLst>
          </a:prstGeom>
          <a:solidFill>
            <a:srgbClr val="0A0F13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549140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score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4919472"/>
            <a:ext cx="6126480" cy="329184"/>
          </a:xfrm>
          <a:prstGeom prst="roundRect">
            <a:avLst>
              <a:gd name="adj" fmla="val 22222"/>
            </a:avLst>
          </a:prstGeom>
          <a:solidFill>
            <a:srgbClr val="0A0F13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919472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queue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52360" y="3383280"/>
            <a:ext cx="685800" cy="548640"/>
          </a:xfrm>
          <a:prstGeom prst="rightArrow">
            <a:avLst/>
          </a:prstGeom>
          <a:solidFill>
            <a:srgbClr val="1E7D5C"/>
          </a:solidFill>
          <a:ln/>
        </p:spPr>
      </p:sp>
      <p:sp>
        <p:nvSpPr>
          <p:cNvPr id="21" name="Text 19"/>
          <p:cNvSpPr/>
          <p:nvPr/>
        </p:nvSpPr>
        <p:spPr>
          <a:xfrm>
            <a:off x="7269480" y="3977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reconnect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321040" y="2011680"/>
            <a:ext cx="3291840" cy="3383280"/>
          </a:xfrm>
          <a:prstGeom prst="roundRect">
            <a:avLst>
              <a:gd name="adj" fmla="val 2222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0" y="2194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/ RENDER  —  not in auth path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49640" y="2880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/api/sync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49640" y="34472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+ store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549640" y="401421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purges queue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49640" y="45811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dashboard + analytics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5532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recognition ever happens server-side. The device decides authentication entirely offline.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DATALAKE FACE AUTH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985455" y="6446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NHAI DATALAKE 3.0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A VERIFICATION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 → liveness → recognize → score → sync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139696" cy="2468880"/>
          </a:xfrm>
          <a:prstGeom prst="roundRect">
            <a:avLst>
              <a:gd name="adj" fmla="val 3419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2514600"/>
            <a:ext cx="585216" cy="585216"/>
          </a:xfrm>
          <a:prstGeom prst="ellipse">
            <a:avLst/>
          </a:prstGeom>
          <a:solidFill>
            <a:srgbClr val="0A0F13"/>
          </a:solidFill>
          <a:ln w="19050">
            <a:solidFill>
              <a:srgbClr val="38E0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25146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329184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 gates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886200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face, frontal pose, adequate light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33472" y="32004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E7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779776" y="2286000"/>
            <a:ext cx="2139696" cy="2468880"/>
          </a:xfrm>
          <a:prstGeom prst="roundRect">
            <a:avLst>
              <a:gd name="adj" fmla="val 3419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57016" y="2514600"/>
            <a:ext cx="585216" cy="585216"/>
          </a:xfrm>
          <a:prstGeom prst="ellipse">
            <a:avLst/>
          </a:prstGeom>
          <a:solidFill>
            <a:srgbClr val="0A0F13"/>
          </a:solidFill>
          <a:ln w="19050">
            <a:solidFill>
              <a:srgbClr val="38E0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57016" y="25146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16936" y="329184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 liveness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16936" y="3886200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blink / smile / head-turn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64608" y="32004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E7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010912" y="2286000"/>
            <a:ext cx="2139696" cy="2468880"/>
          </a:xfrm>
          <a:prstGeom prst="roundRect">
            <a:avLst>
              <a:gd name="adj" fmla="val 3419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88152" y="2514600"/>
            <a:ext cx="585216" cy="585216"/>
          </a:xfrm>
          <a:prstGeom prst="ellipse">
            <a:avLst/>
          </a:prstGeom>
          <a:solidFill>
            <a:srgbClr val="0A0F13"/>
          </a:solidFill>
          <a:ln w="19050">
            <a:solidFill>
              <a:srgbClr val="38E0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88152" y="25146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148072" y="329184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Recognition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48072" y="3886200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512-d embedding, multi-frame best match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95744" y="32004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E7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7242048" y="2286000"/>
            <a:ext cx="2139696" cy="2468880"/>
          </a:xfrm>
          <a:prstGeom prst="roundRect">
            <a:avLst>
              <a:gd name="adj" fmla="val 3419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19288" y="2514600"/>
            <a:ext cx="585216" cy="585216"/>
          </a:xfrm>
          <a:prstGeom prst="ellipse">
            <a:avLst/>
          </a:prstGeom>
          <a:solidFill>
            <a:srgbClr val="0A0F13"/>
          </a:solidFill>
          <a:ln w="19050">
            <a:solidFill>
              <a:srgbClr val="38E0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19288" y="25146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379208" y="329184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Composite score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79208" y="3886200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0-100 trust score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26880" y="32004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E7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9473184" y="2286000"/>
            <a:ext cx="2139696" cy="2468880"/>
          </a:xfrm>
          <a:prstGeom prst="roundRect">
            <a:avLst>
              <a:gd name="adj" fmla="val 3419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250424" y="2514600"/>
            <a:ext cx="585216" cy="585216"/>
          </a:xfrm>
          <a:prstGeom prst="ellipse">
            <a:avLst/>
          </a:prstGeom>
          <a:solidFill>
            <a:srgbClr val="0A0F13"/>
          </a:solidFill>
          <a:ln w="19050">
            <a:solidFill>
              <a:srgbClr val="38E0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50424" y="25146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610344" y="329184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 + sync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10344" y="3886200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stored, then purged on sync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static photo cannot complete the live challenge — so print and screen spoofs are rejected before recognition.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DATALAKE FACE AUTH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985455" y="6446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NHAI DATALAKE 3.0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ANTI-SPOOFING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layers of liveness defeat fraud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PASSIVE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MiniFASNet anti-spoof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RGB anti-spoof model (~5.7 MB)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texture / depth cues per frame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printed photos and replays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on-device, no user effort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201168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46520" y="2651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Randomized challenge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315468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Blink, smile or head-turn on demand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order within a 7s window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from ML Kit eye/smile/pose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 or screen cannot respond live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attempts are counted on-device and surfaced as a "presentation attacks blocked" KPI on the dashboard.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DATALAKE FACE AUTH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85455" y="6446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NHAI DATALAKE 3.0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BONUS  ·  ON-DEVICE MONITORING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Drowsiness &amp; attention, from the same landmarks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139696" cy="1783080"/>
          </a:xfrm>
          <a:prstGeom prst="roundRect">
            <a:avLst>
              <a:gd name="adj" fmla="val 4103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3317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1819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openness per frame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79776" y="2103120"/>
            <a:ext cx="2139696" cy="1783080"/>
          </a:xfrm>
          <a:prstGeom prst="roundRect">
            <a:avLst>
              <a:gd name="adj" fmla="val 4103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62656" y="23317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PERCLOS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962656" y="2834640"/>
            <a:ext cx="1819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eyes-closed over a window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10912" y="2103120"/>
            <a:ext cx="2139696" cy="1783080"/>
          </a:xfrm>
          <a:prstGeom prst="roundRect">
            <a:avLst>
              <a:gd name="adj" fmla="val 4103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93792" y="23317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BLINK RATE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93792" y="2834640"/>
            <a:ext cx="1819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indicator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42048" y="2103120"/>
            <a:ext cx="2139696" cy="1783080"/>
          </a:xfrm>
          <a:prstGeom prst="roundRect">
            <a:avLst>
              <a:gd name="adj" fmla="val 4103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24928" y="23317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MICRO-SLEEP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24928" y="2834640"/>
            <a:ext cx="1819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eye closure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473184" y="2103120"/>
            <a:ext cx="2139696" cy="1783080"/>
          </a:xfrm>
          <a:prstGeom prst="roundRect">
            <a:avLst>
              <a:gd name="adj" fmla="val 4103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56064" y="23317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LOOK-AWAY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56064" y="2834640"/>
            <a:ext cx="1819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head yaw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0A0F13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343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extra model, no network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47548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are derived on-device from the 68-point face landmarks already used for liveness. The snapshot is attached to each verified record and powers the dashboard’s fatigue analytics.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DATALAKE FACE AUTH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985455" y="6446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NHAI DATALAKE 3.0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INNOVATION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transparent, weighted Authentication Score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920240"/>
          <a:ext cx="51206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2011680"/>
            <a:ext cx="5669280" cy="3931920"/>
          </a:xfrm>
          <a:prstGeom prst="roundRect">
            <a:avLst>
              <a:gd name="adj" fmla="val 1860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17920" y="22402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signal becomes a 0-1 sub-score, multiplied by a weight, summed to a single score out of 100.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217920" y="3108960"/>
            <a:ext cx="5212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(0.45) — match confidence from distance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(0.25) — challenge passed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Alertness (0.10) — not drowsy, eyes open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(0.10) — frontal head pose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(0.10) — adequate illumination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217920" y="52578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below 70 are flagged low-trust for review. Identical weighting on native and web.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DATALAKE FACE AUTH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985455" y="6446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NHAI DATALAKE 3.0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 &amp; FOOTPRINT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Lightweight, sub-second, CPU-only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2402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10.7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0815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8B97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MB TOTAL MODELS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201168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22402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1s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66160" y="30815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8B97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RECOGNIZE + MATCH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201168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2402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55080" y="30815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8B97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 MINSDK (8.0+)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15400" y="201168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0" y="22402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144000" y="30815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8B97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 CALLS IN AUTH</a:t>
            </a:r>
            <a:endParaRPr lang="en-US" sz="11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48640" y="4114800"/>
          <a:ext cx="64008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7315200" y="4114800"/>
            <a:ext cx="4297680" cy="2103120"/>
          </a:xfrm>
          <a:prstGeom prst="roundRect">
            <a:avLst>
              <a:gd name="adj" fmla="val 3478"/>
            </a:avLst>
          </a:prstGeom>
          <a:solidFill>
            <a:srgbClr val="0A0F13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89520" y="4297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Latency budget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589520" y="475488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+ landmarks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extraction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match (~0 ms)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live, shown per verify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DATALAKE FACE AUTH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985455" y="6446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NHAI DATALAKE 3.0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 COMPLIANCE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constraint, mapped to the build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4206240"/>
                <a:gridCol w="22860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8E0A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Requirement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8E0A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Status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8E0A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Where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BE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Native, Android + iOS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8E0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 — Android APK builds; iOS project incl.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BE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app/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BE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~20 MB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8E0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 MB TFLite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BE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app/assets/models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BE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1s recognize + liveness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8E0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On-device latency budget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BE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/ stat strip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BE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8.0+, no GPU, 3 GB RAM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8E0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minSdk 26, CPU TFLite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BE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android/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BE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95% acc, Indian demographics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2B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+ documented validation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BE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alignment doc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BE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8E0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 / Apache-2.0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BE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BE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liveness (blink/smile/turn)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8E0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Passive + active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BE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face/liveness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BE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 &amp; purge (AWS)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8E0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→ POST → purge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BE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 / backend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09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DATALAKE FACE AUTH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985455" y="6446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NHAI DATALAKE 3.0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BEYOND THE BRIEF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Bonus capabilities that stand out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593592" cy="1572768"/>
          </a:xfrm>
          <a:prstGeom prst="roundRect">
            <a:avLst>
              <a:gd name="adj" fmla="val 4651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313432"/>
            <a:ext cx="310896" cy="310896"/>
          </a:xfrm>
          <a:prstGeom prst="ellipse">
            <a:avLst/>
          </a:prstGeom>
          <a:solidFill>
            <a:srgbClr val="38E0A5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258568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Composite trust score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2770632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0-100 score across all signals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70248" y="2057400"/>
            <a:ext cx="3593592" cy="1572768"/>
          </a:xfrm>
          <a:prstGeom prst="roundRect">
            <a:avLst>
              <a:gd name="adj" fmla="val 4651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8848" y="2313432"/>
            <a:ext cx="310896" cy="310896"/>
          </a:xfrm>
          <a:prstGeom prst="ellipse">
            <a:avLst/>
          </a:prstGeom>
          <a:solidFill>
            <a:srgbClr val="38E0A5"/>
          </a:solidFill>
          <a:ln/>
        </p:spPr>
      </p:sp>
      <p:sp>
        <p:nvSpPr>
          <p:cNvPr id="10" name="Text 8"/>
          <p:cNvSpPr/>
          <p:nvPr/>
        </p:nvSpPr>
        <p:spPr>
          <a:xfrm>
            <a:off x="4956048" y="2258568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Drowsiness monitoring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26280" y="2770632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PERCLOS, blink rate, micro-sleep, look-away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91856" y="2057400"/>
            <a:ext cx="3593592" cy="1572768"/>
          </a:xfrm>
          <a:prstGeom prst="roundRect">
            <a:avLst>
              <a:gd name="adj" fmla="val 4651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0456" y="2313432"/>
            <a:ext cx="310896" cy="310896"/>
          </a:xfrm>
          <a:prstGeom prst="ellipse">
            <a:avLst/>
          </a:prstGeom>
          <a:solidFill>
            <a:srgbClr val="38E0A5"/>
          </a:solidFill>
          <a:ln/>
        </p:spPr>
      </p:sp>
      <p:sp>
        <p:nvSpPr>
          <p:cNvPr id="14" name="Text 12"/>
          <p:cNvSpPr/>
          <p:nvPr/>
        </p:nvSpPr>
        <p:spPr>
          <a:xfrm>
            <a:off x="8677656" y="2258568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Bilingual prompts + voice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47888" y="2770632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or English, offline TTS, switchable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3593592" cy="1572768"/>
          </a:xfrm>
          <a:prstGeom prst="roundRect">
            <a:avLst>
              <a:gd name="adj" fmla="val 4651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050792"/>
            <a:ext cx="310896" cy="310896"/>
          </a:xfrm>
          <a:prstGeom prst="ellipse">
            <a:avLst/>
          </a:prstGeom>
          <a:solidFill>
            <a:srgbClr val="38E0A5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3995928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Verifiable offline proof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" y="4507992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"0 network calls during auth" counter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70248" y="3794760"/>
            <a:ext cx="3593592" cy="1572768"/>
          </a:xfrm>
          <a:prstGeom prst="roundRect">
            <a:avLst>
              <a:gd name="adj" fmla="val 4651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98848" y="4050792"/>
            <a:ext cx="310896" cy="310896"/>
          </a:xfrm>
          <a:prstGeom prst="ellipse">
            <a:avLst/>
          </a:prstGeom>
          <a:solidFill>
            <a:srgbClr val="38E0A5"/>
          </a:solidFill>
          <a:ln/>
        </p:spPr>
      </p:sp>
      <p:sp>
        <p:nvSpPr>
          <p:cNvPr id="22" name="Text 20"/>
          <p:cNvSpPr/>
          <p:nvPr/>
        </p:nvSpPr>
        <p:spPr>
          <a:xfrm>
            <a:off x="4956048" y="3995928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Latency budget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26280" y="4507992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Per-verify ms breakdown, &lt; 1s on-device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991856" y="3794760"/>
            <a:ext cx="3593592" cy="1572768"/>
          </a:xfrm>
          <a:prstGeom prst="roundRect">
            <a:avLst>
              <a:gd name="adj" fmla="val 4651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0456" y="4050792"/>
            <a:ext cx="310896" cy="310896"/>
          </a:xfrm>
          <a:prstGeom prst="ellipse">
            <a:avLst/>
          </a:prstGeom>
          <a:solidFill>
            <a:srgbClr val="38E0A5"/>
          </a:solidFill>
          <a:ln/>
        </p:spPr>
      </p:sp>
      <p:sp>
        <p:nvSpPr>
          <p:cNvPr id="26" name="Text 24"/>
          <p:cNvSpPr/>
          <p:nvPr/>
        </p:nvSpPr>
        <p:spPr>
          <a:xfrm>
            <a:off x="8677656" y="3995928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Operations-ready records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47888" y="4507992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latency, fatigue and attack flags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DATALAKE FACE AUTH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985455" y="6446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NHAI DATALAKE 3.0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WITH OPEN-SOURCE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30168" cy="3749040"/>
          </a:xfrm>
          <a:prstGeom prst="roundRect">
            <a:avLst>
              <a:gd name="adj" fmla="val 2015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94560"/>
            <a:ext cx="3264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Native app (Android / iOS)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321868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0.74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react-native-vision-camera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react-native-fast-tflite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 face detection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MMKV (encrypted store)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react-native-tts (offline voice)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297680" y="2011680"/>
            <a:ext cx="3630168" cy="3749040"/>
          </a:xfrm>
          <a:prstGeom prst="roundRect">
            <a:avLst>
              <a:gd name="adj" fmla="val 2015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2194560"/>
            <a:ext cx="3264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 demo (Vercel)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26280" y="2880360"/>
            <a:ext cx="321868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React + TypeScript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@vladmandic/face-api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 (offline TTS)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E2E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46720" y="2011680"/>
            <a:ext cx="3630168" cy="3749040"/>
          </a:xfrm>
          <a:prstGeom prst="roundRect">
            <a:avLst>
              <a:gd name="adj" fmla="val 2015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2194560"/>
            <a:ext cx="3264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 backend (AWS / Render)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75320" y="2880360"/>
            <a:ext cx="321868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+ Express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(optional) / in-memory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App Runner config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Server-rendered dashboard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 are MIT or Apache-2.0 — no additional licensing required.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DATALAKE FACE AUTH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985455" y="6446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NHAI DATALAKE 3.0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IT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 APK first, web demo optional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 APK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542032"/>
            <a:ext cx="937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u="sng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https://github.com/perrysolid/NHAI/raw/main/docs/deliverables/DatalakeFaceAuth-android-universal-release.apk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822960" y="2953512"/>
            <a:ext cx="9235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judge install. Fully offline native authentication with bundled models.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442448" y="2176272"/>
            <a:ext cx="859536" cy="859536"/>
          </a:xfrm>
          <a:prstGeom prst="rect">
            <a:avLst/>
          </a:prstGeom>
          <a:solidFill>
            <a:srgbClr val="38E0A5"/>
          </a:solidFill>
          <a:ln w="6350">
            <a:solidFill>
              <a:srgbClr val="38E0A5"/>
            </a:solidFill>
            <a:prstDash val="solid"/>
          </a:ln>
        </p:spPr>
      </p:sp>
      <p:pic>
        <p:nvPicPr>
          <p:cNvPr id="9" name="Image 0" descr="/Users/parth/nhai/docs/deck/assets/qr-gith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2" y="2231136"/>
            <a:ext cx="749808" cy="74980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8640" y="338328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 DEMO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391363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nhai-three.vercel.app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257800" y="3584448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on a phone or laptop, allow the camera, enroll and verify.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10442448" y="3547872"/>
            <a:ext cx="859536" cy="859536"/>
          </a:xfrm>
          <a:prstGeom prst="rect">
            <a:avLst/>
          </a:prstGeom>
          <a:solidFill>
            <a:srgbClr val="38E0A5"/>
          </a:solidFill>
          <a:ln w="6350">
            <a:solidFill>
              <a:srgbClr val="38E0A5"/>
            </a:solidFill>
            <a:prstDash val="solid"/>
          </a:ln>
        </p:spPr>
      </p:sp>
      <p:pic>
        <p:nvPicPr>
          <p:cNvPr id="15" name="Image 1" descr="/Users/parth/nhai/docs/deck/assets/qr-dem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7312" y="3602736"/>
            <a:ext cx="749808" cy="74980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48640" y="475488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22960" y="4937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CODE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22960" y="528523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github.com/perrysolid/NHAI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5257800" y="4956048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app, web demo and backend, with full documentation.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10442448" y="4919472"/>
            <a:ext cx="859536" cy="859536"/>
          </a:xfrm>
          <a:prstGeom prst="rect">
            <a:avLst/>
          </a:prstGeom>
          <a:solidFill>
            <a:srgbClr val="38E0A5"/>
          </a:solidFill>
          <a:ln w="6350">
            <a:solidFill>
              <a:srgbClr val="38E0A5"/>
            </a:solidFill>
            <a:prstDash val="solid"/>
          </a:ln>
        </p:spPr>
      </p:sp>
      <p:pic>
        <p:nvPicPr>
          <p:cNvPr id="21" name="Image 2" descr="/Users/parth/nhai/docs/deck/assets/qr-githu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7312" y="4974336"/>
            <a:ext cx="749808" cy="7498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DATALAKE FACE AUTH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7985455" y="6446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NHAI DATALAKE 3.0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JUDGE PACKAGE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Installable mobile build is packaged with the repo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3611880"/>
          </a:xfrm>
          <a:prstGeom prst="roundRect">
            <a:avLst>
              <a:gd name="adj" fmla="val 2025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 APK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542032"/>
            <a:ext cx="3063240" cy="384048"/>
          </a:xfrm>
          <a:prstGeom prst="roundRect">
            <a:avLst>
              <a:gd name="adj" fmla="val 19048"/>
            </a:avLst>
          </a:prstGeom>
          <a:solidFill>
            <a:srgbClr val="38E0A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2432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07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DOWNLOAD ANDROID APK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48006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docs/deliverables/DatalakeFaceAuth-android-universal-release.apk</a:t>
            </a:r>
            <a:endParaRPr lang="en-US" sz="128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universal APK for judge phones: arm64-v8a + armeabi-v7a</a:t>
            </a:r>
            <a:endParaRPr lang="en-US" sz="128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variant, version 1.0, package com.datalakefaceauth</a:t>
            </a:r>
            <a:endParaRPr lang="en-US" sz="128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TFLite + ML Kit assets verified inside the APK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822960" y="50749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still emits smaller split APKs locally if architecture-specific installs are needed.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874520"/>
            <a:ext cx="5440680" cy="3611880"/>
          </a:xfrm>
          <a:prstGeom prst="roundRect">
            <a:avLst>
              <a:gd name="adj" fmla="val 2025"/>
            </a:avLst>
          </a:prstGeom>
          <a:solidFill>
            <a:srgbClr val="111A21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iOS / IPA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2651760"/>
            <a:ext cx="48463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does not use APK files; judges need a signed IPA or TestFlight build</a:t>
            </a:r>
            <a:endParaRPr lang="en-US" sz="128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iOS project is included at app/ios/DatalakeFaceAuth.xcodeproj</a:t>
            </a:r>
            <a:endParaRPr lang="en-US" sz="128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Xcode after pod install, then archive with an Apple Team profile</a:t>
            </a:r>
            <a:endParaRPr lang="en-US" sz="128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8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auth code, storage flow and UI are shared from the same app source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6446520" y="507492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archive iOS only when Apple signing credentials are available.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5650992"/>
            <a:ext cx="11064240" cy="438912"/>
          </a:xfrm>
          <a:prstGeom prst="roundRect">
            <a:avLst>
              <a:gd name="adj" fmla="val 16667"/>
            </a:avLst>
          </a:prstGeom>
          <a:solidFill>
            <a:srgbClr val="0A0F13"/>
          </a:solidFill>
          <a:ln w="12700">
            <a:solidFill>
              <a:srgbClr val="2532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74243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u="sng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Direct APK: https://github.com/perrysolid/NHAI/raw/main/docs/deliverables/DatalakeFaceAuth-android-universal-release.apk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DATALAKE FACE AUTH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985455" y="6446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A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NHAI DATALAKE 3.0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92608"/>
            <a:ext cx="384048" cy="41148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292608"/>
            <a:ext cx="41148" cy="384048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4" name="Shape 2"/>
          <p:cNvSpPr/>
          <p:nvPr/>
        </p:nvSpPr>
        <p:spPr>
          <a:xfrm>
            <a:off x="11515039" y="292608"/>
            <a:ext cx="384048" cy="41148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5" name="Shape 3"/>
          <p:cNvSpPr/>
          <p:nvPr/>
        </p:nvSpPr>
        <p:spPr>
          <a:xfrm>
            <a:off x="11857939" y="292608"/>
            <a:ext cx="41148" cy="384048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6" name="Shape 4"/>
          <p:cNvSpPr/>
          <p:nvPr/>
        </p:nvSpPr>
        <p:spPr>
          <a:xfrm>
            <a:off x="292608" y="6524244"/>
            <a:ext cx="384048" cy="41148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7" name="Shape 5"/>
          <p:cNvSpPr/>
          <p:nvPr/>
        </p:nvSpPr>
        <p:spPr>
          <a:xfrm>
            <a:off x="292608" y="6181344"/>
            <a:ext cx="41148" cy="384048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8" name="Shape 6"/>
          <p:cNvSpPr/>
          <p:nvPr/>
        </p:nvSpPr>
        <p:spPr>
          <a:xfrm>
            <a:off x="11515039" y="6524244"/>
            <a:ext cx="384048" cy="41148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9" name="Shape 7"/>
          <p:cNvSpPr/>
          <p:nvPr/>
        </p:nvSpPr>
        <p:spPr>
          <a:xfrm>
            <a:off x="11857939" y="6181344"/>
            <a:ext cx="41148" cy="384048"/>
          </a:xfrm>
          <a:prstGeom prst="rect">
            <a:avLst/>
          </a:prstGeom>
          <a:solidFill>
            <a:srgbClr val="38E0A5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HONEST ROADMAP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B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Production-ready core, a clear path to scale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68680" y="2743200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MobileFaceNet for INT8 EdgeFace-S to shrink the recognition model further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on IndicFairFace for diverse Indian-demographic robustness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benchmarking across mid-range hardware to certify &gt; 95% and &lt; 1s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B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FaceEngine into the existing Datalake 3.0 React Native screens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50749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E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68680" y="5715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7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nhai-three.vercel.app   ·   github.com/perrysolid/NHAI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Datalake Face Auth</dc:title>
  <dc:subject>PptxGenJS Presentation</dc:subject>
  <dc:creator>Team Datalake Face Auth</dc:creator>
  <cp:lastModifiedBy>Team Datalake Face Auth</cp:lastModifiedBy>
  <cp:revision>1</cp:revision>
  <dcterms:created xsi:type="dcterms:W3CDTF">2026-06-05T17:11:04Z</dcterms:created>
  <dcterms:modified xsi:type="dcterms:W3CDTF">2026-06-05T17:11:04Z</dcterms:modified>
</cp:coreProperties>
</file>